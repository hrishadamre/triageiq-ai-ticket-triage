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fk4osyi8PHJcGvhMQSJi4yNwu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B2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Tech / Product</c:v>
                </c:pt>
                <c:pt idx="1">
                  <c:v>Billing</c:v>
                </c:pt>
                <c:pt idx="2">
                  <c:v>Customer Service</c:v>
                </c:pt>
                <c:pt idx="3">
                  <c:v>Business Support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0.88</c:v>
                </c:pt>
                <c:pt idx="1">
                  <c:v>0.79</c:v>
                </c:pt>
                <c:pt idx="2">
                  <c:v>0.61</c:v>
                </c:pt>
                <c:pt idx="3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2F-44E5-9DDD-25D433FE88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English (EN)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1B2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True Positive Rate</c:v>
                </c:pt>
                <c:pt idx="1">
                  <c:v>False Positive Rate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0.874</c:v>
                </c:pt>
                <c:pt idx="1">
                  <c:v>4.8000000000000001E-2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1B-472B-A93A-AB82964AA8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German (DE)</c:v>
                </c:pt>
              </c:strCache>
            </c:strRef>
          </c:tx>
          <c:spPr>
            <a:solidFill>
              <a:srgbClr val="4DD0BD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1B2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True Positive Rate</c:v>
                </c:pt>
                <c:pt idx="1">
                  <c:v>False Positive Rate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0.80600000000000005</c:v>
                </c:pt>
                <c:pt idx="1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1B-472B-A93A-AB82964AA8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2" name="Google Shape;32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chart" Target="../charts/chart2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822960" y="146304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400"/>
              <a:buFont typeface="Georgia"/>
              <a:buNone/>
            </a:pPr>
            <a:r>
              <a:rPr b="1" i="0" lang="en-US" sz="8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TriageIQ</a:t>
            </a:r>
            <a:endParaRPr b="0" i="0" sz="8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822960" y="278892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DD0BD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4DD0BD"/>
                </a:solidFill>
                <a:latin typeface="Calibri"/>
                <a:ea typeface="Calibri"/>
                <a:cs typeface="Calibri"/>
                <a:sym typeface="Calibri"/>
              </a:rPr>
              <a:t>AI-assisted triage for IT support teams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822960" y="333756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Harnessing AI for Business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22960" y="4160520"/>
            <a:ext cx="1463040" cy="36576"/>
          </a:xfrm>
          <a:prstGeom prst="rect">
            <a:avLst/>
          </a:prstGeom>
          <a:solidFill>
            <a:srgbClr val="4DD0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22960" y="43434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DD0B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DD0BD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4720716"/>
            <a:ext cx="41148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Aissatou Bah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Connor Gilger</a:t>
            </a:r>
            <a:endParaRPr b="0" i="0" sz="1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Hrishad Amre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Jihaad Fadika</a:t>
            </a:r>
            <a:endParaRPr b="0" i="0" sz="1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Manas Apte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Shahad Murshid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Steven George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029200" y="4709160"/>
            <a:ext cx="41148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235440" y="4343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DD0B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4DD0BD"/>
                </a:solidFill>
                <a:latin typeface="Calibri"/>
                <a:ea typeface="Calibri"/>
                <a:cs typeface="Calibri"/>
                <a:sym typeface="Calibri"/>
              </a:rPr>
              <a:t>Advisors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235440" y="4400676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Prof. James McCoy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Prof. Tej Anand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BUSINESS SECTOR ANALYSIS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0F1B2D"/>
                </a:solidFill>
                <a:latin typeface="Georgia"/>
                <a:ea typeface="Georgia"/>
                <a:cs typeface="Georgia"/>
                <a:sym typeface="Georgia"/>
              </a:rPr>
              <a:t>AI impact research — a structured Who / Why / How view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8640" y="1691640"/>
            <a:ext cx="11064240" cy="15087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48640" y="1691640"/>
            <a:ext cx="91440" cy="1508760"/>
          </a:xfrm>
          <a:prstGeom prst="rect">
            <a:avLst/>
          </a:prstGeom>
          <a:solidFill>
            <a:srgbClr val="4DD0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822960" y="192024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WHO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" name="Google Shape;3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468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"/>
          <p:cNvSpPr/>
          <p:nvPr/>
        </p:nvSpPr>
        <p:spPr>
          <a:xfrm>
            <a:off x="2103120" y="1874520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Who: target customers and market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103120" y="2240280"/>
            <a:ext cx="6217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IT helpdesk teams in medium-to-large enterprises managing high volumes of repetitive support tickets — software, retail, education, financial services.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503920" y="18745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rPr>
              <a:t>$13.6B → $106B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503920" y="2221992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Helpdesk automation market (2025 → 2034)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8503920" y="25146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rPr>
              <a:t>70%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503920" y="2862072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of CX leaders plan to integrate AI by 2027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48640" y="3337560"/>
            <a:ext cx="11064240" cy="15087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548640" y="3337560"/>
            <a:ext cx="91440" cy="1508760"/>
          </a:xfrm>
          <a:prstGeom prst="rect">
            <a:avLst/>
          </a:prstGeom>
          <a:solidFill>
            <a:srgbClr val="4DD0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822960" y="356616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WHY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" name="Google Shape;4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41148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2103120" y="3520440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Why: the operational pain AI can address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103120" y="3886200"/>
            <a:ext cx="6217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Manual triage takes 15-30 minutes per ticket and is inconsistent across agents. The result: missed escalations, SLA breaches, and bloated support costs. ML models classify priority consistently; generative AI drafts first responses at scale.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503920" y="352044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rPr>
              <a:t>15-30 min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503920" y="3867912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manual triage time per ticket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8503920" y="41605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rPr>
              <a:t>$300K+/yr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503920" y="4507992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labor cost at 500+ tickets/month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48640" y="4983480"/>
            <a:ext cx="11064240" cy="15087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548640" y="4983480"/>
            <a:ext cx="91440" cy="1508760"/>
          </a:xfrm>
          <a:prstGeom prst="rect">
            <a:avLst/>
          </a:prstGeom>
          <a:solidFill>
            <a:srgbClr val="4DD0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822960" y="521208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HOW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" name="Google Shape;5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5760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/>
          <p:nvPr/>
        </p:nvSpPr>
        <p:spPr>
          <a:xfrm>
            <a:off x="2103120" y="5166360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How: existing approaches and adoption gaps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2103120" y="5532120"/>
            <a:ext cx="6217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Zendesk reports 85% AI-resolved tickets; Freshservice reports 66% deflection and 41% faster first response. Gartner expects 40% of enterprise apps to feature task-specific AI agents by 2026. Adoption barriers remain: limited internal AI expertise, insufficient training data, unclear ROI, and per-ticket pricing that doesn't scale.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503920" y="51663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rPr>
              <a:t>40%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503920" y="5513832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of enterprise apps to have AI agents by 2026 (Gartner)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8503920" y="580644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rPr>
              <a:t>4 barriers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8503920" y="6153912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expertise, data, ROI clarity, cost scalability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Market timing favors adoption — but most enterprises lack the expertise or data to deploy on their own.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0F1B2D"/>
                </a:solidFill>
                <a:latin typeface="Georgia"/>
                <a:ea typeface="Georgia"/>
                <a:cs typeface="Georgia"/>
                <a:sym typeface="Georgia"/>
              </a:rPr>
              <a:t>Manual ticket triage is slow, inconsistent, and expensive.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80060" y="2194560"/>
            <a:ext cx="3520440" cy="201168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480060" y="2194560"/>
            <a:ext cx="3520440" cy="73152"/>
          </a:xfrm>
          <a:prstGeom prst="rect">
            <a:avLst/>
          </a:prstGeom>
          <a:solidFill>
            <a:srgbClr val="4DD0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" y="25146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800100" y="3108960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15–30 min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00100" y="3703320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per ticket triaged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320540" y="2194560"/>
            <a:ext cx="3520440" cy="201168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4320540" y="2194560"/>
            <a:ext cx="3520440" cy="73152"/>
          </a:xfrm>
          <a:prstGeom prst="rect">
            <a:avLst/>
          </a:prstGeom>
          <a:solidFill>
            <a:srgbClr val="4DD0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6300" y="25146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"/>
          <p:cNvSpPr/>
          <p:nvPr/>
        </p:nvSpPr>
        <p:spPr>
          <a:xfrm>
            <a:off x="4640580" y="3108960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125–150 hrs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640580" y="3703320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per month at 500+ tickets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161020" y="2194560"/>
            <a:ext cx="3520440" cy="201168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8161020" y="2194560"/>
            <a:ext cx="3520440" cy="73152"/>
          </a:xfrm>
          <a:prstGeom prst="rect">
            <a:avLst/>
          </a:prstGeom>
          <a:solidFill>
            <a:srgbClr val="4DD0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6780" y="25146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8481060" y="3108960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$300K+/yr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8481060" y="3703320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 manual triage labor cost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48640" y="4663440"/>
            <a:ext cx="73152" cy="1463040"/>
          </a:xfrm>
          <a:prstGeom prst="rect">
            <a:avLst/>
          </a:prstGeom>
          <a:solidFill>
            <a:srgbClr val="4DD0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822960" y="46634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Beyond cost, manual triage is inconsistent.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822960" y="507492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Different agents read the same ticket differently. High-priority incidents get buried; low-priority requests escalate to senior staff. The result: SLA breaches, dissatisfied customers, and operational risk.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0F1B2D"/>
                </a:solidFill>
                <a:latin typeface="Georgia"/>
                <a:ea typeface="Georgia"/>
                <a:cs typeface="Georgia"/>
                <a:sym typeface="Georgia"/>
              </a:rPr>
              <a:t>An AI-assisted layer over existing helpdesk platforms.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TriageIQ does not replace agents. It augments them — predicting priority, recommending routes, scoring SLA risk, and drafting first responses for human review. Designed to integrate with Jira Service Management, Freshservice, and ServiceNow.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20040" y="2926080"/>
            <a:ext cx="365760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320040" y="2926080"/>
            <a:ext cx="3657600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2004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4"/>
          <p:cNvSpPr/>
          <p:nvPr/>
        </p:nvSpPr>
        <p:spPr>
          <a:xfrm>
            <a:off x="3063240" y="3108960"/>
            <a:ext cx="731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DD0BD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4DD0BD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94360" y="411480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0F1B2D"/>
                </a:solidFill>
                <a:latin typeface="Georgia"/>
                <a:ea typeface="Georgia"/>
                <a:cs typeface="Georgia"/>
                <a:sym typeface="Georgia"/>
              </a:rPr>
              <a:t>Priority Detection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94360" y="4709160"/>
            <a:ext cx="3108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Classifies tickets as High, Needs Review, or Normal using TF-IDF text features. Optimized for recall on urgent issues — borderline cases flagged for human review.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251960" y="2926080"/>
            <a:ext cx="365760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4251960" y="2926080"/>
            <a:ext cx="3657600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7720" y="32004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/>
          <p:nvPr/>
        </p:nvSpPr>
        <p:spPr>
          <a:xfrm>
            <a:off x="6995160" y="3108960"/>
            <a:ext cx="731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DD0BD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4DD0BD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526280" y="411480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0F1B2D"/>
                </a:solidFill>
                <a:latin typeface="Georgia"/>
                <a:ea typeface="Georgia"/>
                <a:cs typeface="Georgia"/>
                <a:sym typeface="Georgia"/>
              </a:rPr>
              <a:t>Queue Routing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526280" y="4709160"/>
            <a:ext cx="3108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Predicts the right support group (Technical/Product, Billing, etc.) with confidence thresholds: high-confidence routes auto-applied, lower-confidence sent to manual review.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8183880" y="2926080"/>
            <a:ext cx="365760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8183880" y="2926080"/>
            <a:ext cx="3657600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49640" y="32004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10927080" y="3108960"/>
            <a:ext cx="731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DD0BD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4DD0BD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8458200" y="411480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0F1B2D"/>
                </a:solidFill>
                <a:latin typeface="Georgia"/>
                <a:ea typeface="Georgia"/>
                <a:cs typeface="Georgia"/>
                <a:sym typeface="Georgia"/>
              </a:rPr>
              <a:t>SLA Risk Score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8458200" y="4709160"/>
            <a:ext cx="3108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Transparent rule-based score combining predicted priority, complexity, customer tier, and history. Returns Low / Medium / High SLA risk with action recommendations.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Human-in-the-loop by design — every AI recommendation is reviewed before action.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TECHNICAL APPROACH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0F1B2D"/>
                </a:solidFill>
                <a:latin typeface="Georgia"/>
                <a:ea typeface="Georgia"/>
                <a:cs typeface="Georgia"/>
                <a:sym typeface="Georgia"/>
              </a:rPr>
              <a:t>How the three models are built and validated.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48640" y="1600200"/>
            <a:ext cx="5486400" cy="146304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548640" y="1600200"/>
            <a:ext cx="91440" cy="1463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777240" y="173736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777240" y="20116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Eight datasets standardized into one pipeline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777240" y="2377440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Multilingual support tickets (EN, DE) </a:t>
            </a:r>
            <a:r>
              <a:rPr lang="en-US" sz="11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·  IT ticket classification (200k records)  ·  Customer support operational data  ·  Jira issues + change history  ·  Sample utterances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309360" y="1600200"/>
            <a:ext cx="5577840" cy="146304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6309360" y="1600200"/>
            <a:ext cx="91440" cy="1463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6537960" y="173736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537960" y="201168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Outer + inner holdout validation, model comparison, threshold tuning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537960" y="2377440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Multiple candidate models trained per task. Inner holdout selects best model + threshold; outer holdout is held out until final reporting. Thresholds chosen against business objectives (false-negative rate ≤ 10% for priority).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57200" y="3246120"/>
            <a:ext cx="3657600" cy="2788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457200" y="3246120"/>
            <a:ext cx="365760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685800" y="3337560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DD0BD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4DD0BD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371600" y="333756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Priority Detection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640080" y="402336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40080" y="420624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TF-IDF (word 1–3-grams, up to 70k features)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640080" y="457200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MODELS COMPARED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40080" y="475488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LogReg · SGD · Calibrated LinearSVC · XGBoost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40080" y="512064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KEY DESIGN DECISION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40080" y="5303520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Two thresholds (Normal / High) create a "Needs Review" middle band — reduces false escalations while keeping recall high.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251960" y="3246120"/>
            <a:ext cx="3657600" cy="2788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4251960" y="3246120"/>
            <a:ext cx="365760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4480560" y="3337560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DD0BD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4DD0BD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166360" y="333756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Queue Routing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4434840" y="402336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4434840" y="420624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TF-IDF + multi-class classifier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434840" y="457200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MODELS COMPARED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434840" y="475488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LogReg · SGD · ComplementNB · Calibrated LinearSVC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434840" y="512064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KEY DESIGN DECISION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434840" y="5303520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Overlapping labels grouped into business-friendly routes. Three confidence buckets: auto-route · human review · manual triage.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8046720" y="3246120"/>
            <a:ext cx="3657600" cy="2788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8046720" y="3246120"/>
            <a:ext cx="365760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8275320" y="3337560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DD0BD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4DD0BD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8961120" y="333756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SLA Risk Score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8229600" y="402336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8229600" y="420624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Rule-based scoring (ML compared, then rejected)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8229600" y="457200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MODELS COMPARED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8229600" y="475488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Logistic Regression · XGBoost — both ROC-AUC ≈ 0.50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8229600" y="512064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KEY DESIGN DECISION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8229600" y="5303520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ML had no real signal. Replaced with a transparent rule-based score over priority, complexity, customer tier, and history.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All three models combine into one recommendation engine that outputs priority, routing, SLA risk, and a first-response draft per ticket.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F1B2D"/>
                </a:solidFill>
                <a:latin typeface="Georgia"/>
                <a:ea typeface="Georgia"/>
                <a:cs typeface="Georgia"/>
                <a:sym typeface="Georgia"/>
              </a:rPr>
              <a:t>One ticket's journey through TriageIQ.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A new ticket flows through three AI components in parallel, then converges on a single recommendation reviewed by a human agent.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48640" y="3383280"/>
            <a:ext cx="1691640" cy="86868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548640" y="341071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 Ticket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48640" y="374904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text + metadata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6"/>
          <p:cNvCxnSpPr/>
          <p:nvPr/>
        </p:nvCxnSpPr>
        <p:spPr>
          <a:xfrm>
            <a:off x="2240280" y="3813048"/>
            <a:ext cx="365760" cy="0"/>
          </a:xfrm>
          <a:prstGeom prst="straightConnector1">
            <a:avLst/>
          </a:prstGeom>
          <a:noFill/>
          <a:ln cap="flat" cmpd="sng" w="317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6"/>
          <p:cNvCxnSpPr/>
          <p:nvPr/>
        </p:nvCxnSpPr>
        <p:spPr>
          <a:xfrm>
            <a:off x="2606040" y="2743200"/>
            <a:ext cx="0" cy="2148840"/>
          </a:xfrm>
          <a:prstGeom prst="straightConnector1">
            <a:avLst/>
          </a:prstGeom>
          <a:noFill/>
          <a:ln cap="flat" cmpd="sng" w="317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6"/>
          <p:cNvCxnSpPr/>
          <p:nvPr/>
        </p:nvCxnSpPr>
        <p:spPr>
          <a:xfrm>
            <a:off x="2606040" y="2766060"/>
            <a:ext cx="411480" cy="0"/>
          </a:xfrm>
          <a:prstGeom prst="straightConnector1">
            <a:avLst/>
          </a:prstGeom>
          <a:noFill/>
          <a:ln cap="flat" cmpd="sng" w="317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6"/>
          <p:cNvSpPr/>
          <p:nvPr/>
        </p:nvSpPr>
        <p:spPr>
          <a:xfrm>
            <a:off x="3017520" y="2331720"/>
            <a:ext cx="365760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3017520" y="2331720"/>
            <a:ext cx="91440" cy="868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3246120" y="2404872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PRIORITY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3246120" y="26060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Priority Model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3246120" y="2862072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TF-IDF + classifier. Outputs: High / Needs Review / Normal.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6"/>
          <p:cNvCxnSpPr/>
          <p:nvPr/>
        </p:nvCxnSpPr>
        <p:spPr>
          <a:xfrm>
            <a:off x="2606040" y="3817620"/>
            <a:ext cx="411480" cy="0"/>
          </a:xfrm>
          <a:prstGeom prst="straightConnector1">
            <a:avLst/>
          </a:prstGeom>
          <a:noFill/>
          <a:ln cap="flat" cmpd="sng" w="317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6"/>
          <p:cNvSpPr/>
          <p:nvPr/>
        </p:nvSpPr>
        <p:spPr>
          <a:xfrm>
            <a:off x="3017520" y="3383280"/>
            <a:ext cx="365760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3017520" y="3383280"/>
            <a:ext cx="91440" cy="8686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3246120" y="3456432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ROUTING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3246120" y="36576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Routing Model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3246120" y="3913632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Predicts support group with confidence threshold for auto-route vs manual.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6"/>
          <p:cNvCxnSpPr/>
          <p:nvPr/>
        </p:nvCxnSpPr>
        <p:spPr>
          <a:xfrm>
            <a:off x="2606040" y="4869180"/>
            <a:ext cx="411480" cy="0"/>
          </a:xfrm>
          <a:prstGeom prst="straightConnector1">
            <a:avLst/>
          </a:prstGeom>
          <a:noFill/>
          <a:ln cap="flat" cmpd="sng" w="317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6"/>
          <p:cNvSpPr/>
          <p:nvPr/>
        </p:nvSpPr>
        <p:spPr>
          <a:xfrm>
            <a:off x="3017520" y="4434840"/>
            <a:ext cx="365760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3017520" y="4434840"/>
            <a:ext cx="91440" cy="86868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3246120" y="4507992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SLA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3246120" y="47091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SLA Risk (rule-based)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3246120" y="4965192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Combines priority + complexity + customer tier + history. Low / Med / High.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6"/>
          <p:cNvCxnSpPr/>
          <p:nvPr/>
        </p:nvCxnSpPr>
        <p:spPr>
          <a:xfrm>
            <a:off x="6995160" y="2743200"/>
            <a:ext cx="0" cy="2148840"/>
          </a:xfrm>
          <a:prstGeom prst="straightConnector1">
            <a:avLst/>
          </a:prstGeom>
          <a:noFill/>
          <a:ln cap="flat" cmpd="sng" w="317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" name="Google Shape;192;p6"/>
          <p:cNvCxnSpPr/>
          <p:nvPr/>
        </p:nvCxnSpPr>
        <p:spPr>
          <a:xfrm>
            <a:off x="6675120" y="2766060"/>
            <a:ext cx="320040" cy="0"/>
          </a:xfrm>
          <a:prstGeom prst="straightConnector1">
            <a:avLst/>
          </a:prstGeom>
          <a:noFill/>
          <a:ln cap="flat" cmpd="sng" w="317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6"/>
          <p:cNvCxnSpPr/>
          <p:nvPr/>
        </p:nvCxnSpPr>
        <p:spPr>
          <a:xfrm>
            <a:off x="6675120" y="3817620"/>
            <a:ext cx="320040" cy="0"/>
          </a:xfrm>
          <a:prstGeom prst="straightConnector1">
            <a:avLst/>
          </a:prstGeom>
          <a:noFill/>
          <a:ln cap="flat" cmpd="sng" w="317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6"/>
          <p:cNvCxnSpPr/>
          <p:nvPr/>
        </p:nvCxnSpPr>
        <p:spPr>
          <a:xfrm>
            <a:off x="6675120" y="4869180"/>
            <a:ext cx="320040" cy="0"/>
          </a:xfrm>
          <a:prstGeom prst="straightConnector1">
            <a:avLst/>
          </a:prstGeom>
          <a:noFill/>
          <a:ln cap="flat" cmpd="sng" w="317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6"/>
          <p:cNvCxnSpPr/>
          <p:nvPr/>
        </p:nvCxnSpPr>
        <p:spPr>
          <a:xfrm>
            <a:off x="6995160" y="3813048"/>
            <a:ext cx="320040" cy="0"/>
          </a:xfrm>
          <a:prstGeom prst="straightConnector1">
            <a:avLst/>
          </a:prstGeom>
          <a:noFill/>
          <a:ln cap="flat" cmpd="sng" w="317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6"/>
          <p:cNvSpPr/>
          <p:nvPr/>
        </p:nvSpPr>
        <p:spPr>
          <a:xfrm>
            <a:off x="7315200" y="3383280"/>
            <a:ext cx="2286000" cy="868680"/>
          </a:xfrm>
          <a:prstGeom prst="rect">
            <a:avLst/>
          </a:prstGeom>
          <a:solidFill>
            <a:srgbClr val="4DD0BD"/>
          </a:solidFill>
          <a:ln>
            <a:noFill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7315200" y="3410712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Recommendation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7315200" y="37490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+ first-response draft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6"/>
          <p:cNvCxnSpPr/>
          <p:nvPr/>
        </p:nvCxnSpPr>
        <p:spPr>
          <a:xfrm>
            <a:off x="9601200" y="3813048"/>
            <a:ext cx="274320" cy="0"/>
          </a:xfrm>
          <a:prstGeom prst="straightConnector1">
            <a:avLst/>
          </a:prstGeom>
          <a:noFill/>
          <a:ln cap="flat" cmpd="sng" w="317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6"/>
          <p:cNvSpPr/>
          <p:nvPr/>
        </p:nvSpPr>
        <p:spPr>
          <a:xfrm>
            <a:off x="9875520" y="3383280"/>
            <a:ext cx="1737360" cy="868680"/>
          </a:xfrm>
          <a:prstGeom prst="rect">
            <a:avLst/>
          </a:prstGeom>
          <a:solidFill>
            <a:srgbClr val="21295C"/>
          </a:solidFill>
          <a:ln>
            <a:noFill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9875520" y="3410712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 Review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9875520" y="374904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DD0BD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4DD0BD"/>
                </a:solidFill>
                <a:latin typeface="Calibri"/>
                <a:ea typeface="Calibri"/>
                <a:cs typeface="Calibri"/>
                <a:sym typeface="Calibri"/>
              </a:rPr>
              <a:t>approve · edit · escalate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548640" y="5852160"/>
            <a:ext cx="11064240" cy="77724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777240" y="5943600"/>
            <a:ext cx="3398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Parallel inference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777240" y="6236208"/>
            <a:ext cx="3398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all three components score the ticket simultaneously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4312920" y="5943600"/>
            <a:ext cx="3398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Confidence thresholds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4312920" y="6236208"/>
            <a:ext cx="3398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high-confidence outputs auto-applied; low-confidence routed to review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7848600" y="5943600"/>
            <a:ext cx="3398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Human-in-the-loop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7848600" y="6236208"/>
            <a:ext cx="3398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no action is taken without an agent confirming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0F1B2D"/>
                </a:solidFill>
                <a:latin typeface="Georgia"/>
                <a:ea typeface="Georgia"/>
                <a:cs typeface="Georgia"/>
                <a:sym typeface="Georgia"/>
              </a:rPr>
              <a:t>Model performance — and the deliberate tradeoffs.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Tested on held-out outer-test data. Numbers come directly from our notebook outputs.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548640" y="1874520"/>
            <a:ext cx="5486400" cy="3703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548640" y="1874520"/>
            <a:ext cx="548640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777240" y="18745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PRIORITY MODEL  ·  SGD Logistic + TF-IDF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822960" y="2468880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5800"/>
              <a:buFont typeface="Georgia"/>
              <a:buNone/>
            </a:pPr>
            <a:r>
              <a:rPr b="1" lang="en-US" sz="5800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95%</a:t>
            </a:r>
            <a:endParaRPr sz="5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3017520" y="256032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High-priority recall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3017520" y="292608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catches 95 of every 100 urgent tickets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7"/>
          <p:cNvCxnSpPr/>
          <p:nvPr/>
        </p:nvCxnSpPr>
        <p:spPr>
          <a:xfrm>
            <a:off x="777240" y="3611880"/>
            <a:ext cx="5029200" cy="0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7"/>
          <p:cNvSpPr/>
          <p:nvPr/>
        </p:nvSpPr>
        <p:spPr>
          <a:xfrm>
            <a:off x="822960" y="364845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Overall accuracy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4480560" y="364845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55%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7"/>
          <p:cNvCxnSpPr/>
          <p:nvPr/>
        </p:nvCxnSpPr>
        <p:spPr>
          <a:xfrm>
            <a:off x="777240" y="3941064"/>
            <a:ext cx="5029200" cy="0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7"/>
          <p:cNvSpPr/>
          <p:nvPr/>
        </p:nvSpPr>
        <p:spPr>
          <a:xfrm>
            <a:off x="822960" y="39776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High precision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4480560" y="39776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46%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7"/>
          <p:cNvCxnSpPr/>
          <p:nvPr/>
        </p:nvCxnSpPr>
        <p:spPr>
          <a:xfrm>
            <a:off x="777240" y="4270248"/>
            <a:ext cx="5029200" cy="0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7"/>
          <p:cNvSpPr/>
          <p:nvPr/>
        </p:nvSpPr>
        <p:spPr>
          <a:xfrm>
            <a:off x="822960" y="430682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High F1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4480560" y="430682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0.62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7"/>
          <p:cNvCxnSpPr/>
          <p:nvPr/>
        </p:nvCxnSpPr>
        <p:spPr>
          <a:xfrm>
            <a:off x="777240" y="4599432"/>
            <a:ext cx="5029200" cy="0"/>
          </a:xfrm>
          <a:prstGeom prst="straightConnector1">
            <a:avLst/>
          </a:prstGeom>
          <a:noFill/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7"/>
          <p:cNvSpPr/>
          <p:nvPr/>
        </p:nvSpPr>
        <p:spPr>
          <a:xfrm>
            <a:off x="822960" y="463600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Not-High precision / recall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4480560" y="463600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90% / 29%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548640" y="5120640"/>
            <a:ext cx="5486400" cy="4572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777240" y="51206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1" lang="en-US" sz="11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Recall-first by design: </a:t>
            </a:r>
            <a:r>
              <a:rPr i="1" lang="en-US" sz="11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missing an urgent ticket costs more than over-flagging.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6309360" y="1874520"/>
            <a:ext cx="5577840" cy="3703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6309360" y="1874520"/>
            <a:ext cx="557784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6537960" y="18745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ROUTING MODEL  ·  Grouped SGD Logistic + TF-IDF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6583680" y="2468880"/>
            <a:ext cx="20116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5000"/>
              <a:buFont typeface="Georgia"/>
              <a:buNone/>
            </a:pPr>
            <a:r>
              <a:rPr b="1" lang="en-US" sz="5000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rPr>
              <a:t>81%</a:t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6583680" y="34290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8641080" y="2468880"/>
            <a:ext cx="1554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5000"/>
              <a:buFont typeface="Georgia"/>
              <a:buNone/>
            </a:pPr>
            <a:r>
              <a:rPr b="1" lang="en-US" sz="5000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0.80</a:t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8641080" y="342900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Weighted F1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6583680" y="381304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F1 by routing group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6" name="Google Shape;246;p7"/>
          <p:cNvGraphicFramePr/>
          <p:nvPr/>
        </p:nvGraphicFramePr>
        <p:xfrm>
          <a:off x="6492240" y="4087368"/>
          <a:ext cx="5212080" cy="1033272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47" name="Google Shape;247;p7"/>
          <p:cNvSpPr/>
          <p:nvPr/>
        </p:nvSpPr>
        <p:spPr>
          <a:xfrm>
            <a:off x="6309360" y="5120640"/>
            <a:ext cx="5577840" cy="4572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6537960" y="512064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1" lang="en-US" sz="11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Confidence thresholds: </a:t>
            </a:r>
            <a:r>
              <a:rPr i="1" lang="en-US" sz="11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high-confidence routes auto-applied, low-confidence sent to manual review.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48640" y="5715000"/>
            <a:ext cx="11064240" cy="914400"/>
          </a:xfrm>
          <a:prstGeom prst="rect">
            <a:avLst/>
          </a:prstGeom>
          <a:solidFill>
            <a:srgbClr val="FFF8E6"/>
          </a:solidFill>
          <a:ln cap="flat" cmpd="sng" w="12700">
            <a:solidFill>
              <a:srgbClr val="F0D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0" name="Google Shape;25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59436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7"/>
          <p:cNvSpPr/>
          <p:nvPr/>
        </p:nvSpPr>
        <p:spPr>
          <a:xfrm>
            <a:off x="1325880" y="57607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SLA prediction was the honest negative result.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1325880" y="608076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Logistic Regression and XGBoost both scored ROC-AUC ≈ 0.50 (random). We replaced ML with a transparent rule-based SLA risk score using priority, complexity, customer tier, and history.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RESPONSIBLE 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F1B2D"/>
                </a:solidFill>
                <a:latin typeface="Georgia"/>
                <a:ea typeface="Georgia"/>
                <a:cs typeface="Georgia"/>
                <a:sym typeface="Georgia"/>
              </a:rPr>
              <a:t>Where the model is fair — and where it isn't.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F4F7FB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1" name="Google Shape;2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8288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8"/>
          <p:cNvSpPr/>
          <p:nvPr/>
        </p:nvSpPr>
        <p:spPr>
          <a:xfrm>
            <a:off x="1371600" y="16916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Language bias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1371600" y="2057400"/>
            <a:ext cx="4937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German tickets are misrouted 5–31% more often than English, especially for business support. The TF-IDF model embeds DE-specific terms into wrong routes. Mitigation: language-agnostic training data.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548640" y="3246120"/>
            <a:ext cx="640080" cy="640080"/>
          </a:xfrm>
          <a:prstGeom prst="ellipse">
            <a:avLst/>
          </a:prstGeom>
          <a:solidFill>
            <a:srgbClr val="F4F7FB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5" name="Google Shape;26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33832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8"/>
          <p:cNvSpPr/>
          <p:nvPr/>
        </p:nvSpPr>
        <p:spPr>
          <a:xfrm>
            <a:off x="1371600" y="32461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Queue imbalance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1371600" y="3611880"/>
            <a:ext cx="4937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IT / Product / Technical Support route correctly &gt;95% of the time, but Customer Service tickets route correctly only 24.6%, and HR just 17.4% — these queues are too small in the training data.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548640" y="4800600"/>
            <a:ext cx="640080" cy="640080"/>
          </a:xfrm>
          <a:prstGeom prst="ellipse">
            <a:avLst/>
          </a:prstGeom>
          <a:solidFill>
            <a:srgbClr val="F4F7FB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9" name="Google Shape;26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49377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8"/>
          <p:cNvSpPr/>
          <p:nvPr/>
        </p:nvSpPr>
        <p:spPr>
          <a:xfrm>
            <a:off x="1371600" y="48006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Generalization gap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1371600" y="5166360"/>
            <a:ext cx="4937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On the 200k dataset, every category predicts "high priority" at ~40% — a coin-flip. The model overfits the smaller aa_dataset and does not transfer cleanly to new distributions.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6766560" y="16916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Priority Model — TPR vs FPR by language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6766560" y="205740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True positive rate (catching High) and false positive rate, broken out by ticket language.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4" name="Google Shape;274;p8"/>
          <p:cNvGraphicFramePr/>
          <p:nvPr/>
        </p:nvGraphicFramePr>
        <p:xfrm>
          <a:off x="6766560" y="2560320"/>
          <a:ext cx="4846320" cy="2743200"/>
        </p:xfrm>
        <a:graphic>
          <a:graphicData uri="http://schemas.openxmlformats.org/drawingml/2006/chart">
            <c:chart r:id="rId6"/>
          </a:graphicData>
        </a:graphic>
      </p:graphicFrame>
      <p:sp>
        <p:nvSpPr>
          <p:cNvPr id="275" name="Google Shape;275;p8"/>
          <p:cNvSpPr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777240" y="612648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Takeaway: </a:t>
            </a:r>
            <a:r>
              <a:rPr lang="en-US" sz="12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All categories remain within acceptable accuracy ranges, but generalization beyond the training distribution is the open problem. Reporting these gaps honestly is part of responsible deployment.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BUSINESS VALUE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0F1B2D"/>
                </a:solidFill>
                <a:latin typeface="Georgia"/>
                <a:ea typeface="Georgia"/>
                <a:cs typeface="Georgia"/>
                <a:sym typeface="Georgia"/>
              </a:rPr>
              <a:t>What TriageIQ saves a 500-ticket-per-month team.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All figures derived from our team's industry research and reported by published case studies. Conservative midpoint estimates shown.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548640" y="2240280"/>
            <a:ext cx="5349240" cy="22860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548640" y="2240280"/>
            <a:ext cx="5349240" cy="502920"/>
          </a:xfrm>
          <a:prstGeom prst="rect">
            <a:avLst/>
          </a:prstGeom>
          <a:solidFill>
            <a:srgbClr val="8B95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822960" y="2240280"/>
            <a:ext cx="4800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  ·  Manual triage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822960" y="28803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Time per ticket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3703320" y="28803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15–30 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822960" y="3264408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Hours per month (500 tickets)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3703320" y="32644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125–150 hrs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822960" y="3648456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Annual triage labor cost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3703320" y="3648456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$300K+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822960" y="4032504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First-response consistency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3703320" y="4032504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6263640" y="2240280"/>
            <a:ext cx="5349240" cy="228600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6263640" y="2240280"/>
            <a:ext cx="5349240" cy="502920"/>
          </a:xfrm>
          <a:prstGeom prst="rect">
            <a:avLst/>
          </a:prstGeom>
          <a:solidFill>
            <a:srgbClr val="4DD0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6537960" y="2240280"/>
            <a:ext cx="4800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AFTER  ·  TriageIQ-assisted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6537960" y="28803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Time per ticket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9418320" y="28803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5–10 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6537960" y="3264408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Hours per month (500 tickets)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9418320" y="32644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40–55 hrs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6537960" y="3648456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Annual triage labor cost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9418320" y="3648456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~$110K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6537960" y="4032504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First-response consistency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9418320" y="4032504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Uniform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457200" y="4800600"/>
            <a:ext cx="3657600" cy="73152"/>
          </a:xfrm>
          <a:prstGeom prst="rect">
            <a:avLst/>
          </a:prstGeom>
          <a:solidFill>
            <a:srgbClr val="4DD0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457200" y="4873752"/>
            <a:ext cx="3657600" cy="1298448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640080" y="498348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600"/>
              <a:buFont typeface="Georgia"/>
              <a:buNone/>
            </a:pPr>
            <a:r>
              <a:rPr b="1" lang="en-US" sz="3600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60–70%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640080" y="57150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reduction in first-response time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4251960" y="4800600"/>
            <a:ext cx="3657600" cy="73152"/>
          </a:xfrm>
          <a:prstGeom prst="rect">
            <a:avLst/>
          </a:prstGeom>
          <a:solidFill>
            <a:srgbClr val="4DD0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4251960" y="4873752"/>
            <a:ext cx="3657600" cy="1298448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4434840" y="498348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3600"/>
              <a:buFont typeface="Georgia"/>
              <a:buNone/>
            </a:pPr>
            <a:r>
              <a:rPr b="1" lang="en-US" sz="3600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rPr>
              <a:t>~$190K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4434840" y="57150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annual savings per 500-ticket team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8046720" y="4800600"/>
            <a:ext cx="3657600" cy="73152"/>
          </a:xfrm>
          <a:prstGeom prst="rect">
            <a:avLst/>
          </a:prstGeom>
          <a:solidFill>
            <a:srgbClr val="4DD0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8046720" y="4873752"/>
            <a:ext cx="3657600" cy="1298448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8229600" y="498348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600"/>
              <a:buFont typeface="Georgia"/>
              <a:buNone/>
            </a:pPr>
            <a:r>
              <a:rPr b="1" lang="en-US" sz="3600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~70 hrs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8229600" y="57150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agent time reclaimed per month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Savings scale with ticket volume — larger enterprises see proportionally larger gains. Estimates exclude integration costs and SLA-breach risk reduction.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822960" y="5029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DD0B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4DD0BD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822960" y="960120"/>
            <a:ext cx="106984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lang="en-US" sz="3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TriageIQ shows where AI helps — and where it shouldn't.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822960" y="2743200"/>
            <a:ext cx="5349240" cy="219456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4DD0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9" name="Google Shape;3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30175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0"/>
          <p:cNvSpPr/>
          <p:nvPr/>
        </p:nvSpPr>
        <p:spPr>
          <a:xfrm>
            <a:off x="1691640" y="3017520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worked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1097280" y="3611880"/>
            <a:ext cx="4800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Priority detection with TF-IDF + recall-focused thresholds (95% High recall)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Queue routing after grouping overlapping labels (80.6% accuracy, 95.6% at high confidence)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Human-in-the-loop design that reviews uncertain predictions instead of automating them away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6537960" y="2743200"/>
            <a:ext cx="5349240" cy="219456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C97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3" name="Google Shape;33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2280" y="30175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0"/>
          <p:cNvSpPr/>
          <p:nvPr/>
        </p:nvSpPr>
        <p:spPr>
          <a:xfrm>
            <a:off x="7406640" y="3017520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didn’t and why that matters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6812280" y="3611880"/>
            <a:ext cx="4800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SLA breach prediction (ROC-AUC ≈ 0.5) — replaced with a transparent rule-based score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Cross-dataset generalization (200k dataset predicts ~40% "high" for every category)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Routing of low-volume queues (Customer Service, HR) due to training data imbalance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2026-05-15T01:26:20Z</dcterms:created>
  <dc:creator>TriageIQ Team</dc:creator>
</cp:coreProperties>
</file>